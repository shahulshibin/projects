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12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F1A84-3EF3-A1A7-953D-F1D8543D6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03DEC8-93E3-0401-269C-52013B2FC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2565E-248D-4D07-023C-DFDBB9A75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5F99-3C1E-4B35-930E-1EC644DF12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D3024-5622-DBA4-0B5F-87A943B56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530D4-590B-13BE-487C-8B028C28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E568C-9C4C-4AA3-B481-91D53C6CA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04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79080-3AF8-314E-429A-2382078A6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91784-C6E5-5592-EDA3-19620EFAE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C9FA2-1D70-F9B3-EB06-7F143257F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5F99-3C1E-4B35-930E-1EC644DF12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D10F6-E5E4-02EE-8846-488FA2DD6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D50D7-4A4D-50D2-8455-0318C4419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E568C-9C4C-4AA3-B481-91D53C6CA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0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0BB67-8B84-7804-FBC9-057C550B7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D60D2-C579-9A30-1EF0-F5E2BE71E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8FEB6-E4E5-F606-95C6-EDBD29323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5F99-3C1E-4B35-930E-1EC644DF12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D5033-0E2D-93A9-054B-86105D860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6A50C-D6FF-B898-2D51-502BBB16B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E568C-9C4C-4AA3-B481-91D53C6CA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8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D3FF8-5423-152F-E981-F49CDC6FE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52A9A-6E2E-5365-27D9-97CF3779A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E34F2-7C6F-BA3A-DE73-C6744E94D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54BB2-096A-E800-A09F-BB5611D14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5F99-3C1E-4B35-930E-1EC644DF12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6BF67-A824-7C5C-ABDD-D24D5BF2B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1665D-F1C0-D92A-EDE0-ADAB37FA1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E568C-9C4C-4AA3-B481-91D53C6CA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956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D31A5-304C-8219-B7D3-7F6663F51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FD52F-49E6-8DFE-534B-8D902F05B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BDF84-F9C4-1916-3FFF-29D9995954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D541E1-D529-2208-0337-EC48C9D436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612C5B-EB81-7237-2465-04209D6586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24D0EB-8721-855C-742C-4D1789A0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5F99-3C1E-4B35-930E-1EC644DF12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1FB657-4C51-463F-21D8-3A95343CE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480AFC-527E-35DA-C9D5-75D75475D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E568C-9C4C-4AA3-B481-91D53C6CA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218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18A33-F943-ACBF-C5C2-F25B31841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D431C-A773-6809-3544-16AE5A5C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5F99-3C1E-4B35-930E-1EC644DF12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D3C6A-E2E8-FE7B-1AD3-31EDFB106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4DCEA-AAEE-76D4-D490-134A8726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E568C-9C4C-4AA3-B481-91D53C6CA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102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815412-9EBA-D645-0492-6666CDF0C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5F99-3C1E-4B35-930E-1EC644DF12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F64FDD-28BD-064E-A43A-1995DD3C2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DA676-B641-90E6-37D4-3FD81FE7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E568C-9C4C-4AA3-B481-91D53C6CA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735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647DC-5181-D941-295A-B75EA2A3F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6B8A8-BEAD-4482-4169-3335756FE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A1137-D931-E7A5-9ED1-4FD40755F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7499CD-F416-D164-81A0-56ED8139B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5F99-3C1E-4B35-930E-1EC644DF12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B41D1-D88A-9E14-CA77-D6A0B1061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0284E-CCD8-E4A5-A7D5-FA340B425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E568C-9C4C-4AA3-B481-91D53C6CA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990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02AC4-E10E-EB4F-335A-4358A167E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BF21CD-0358-8D42-721E-DB7C3BE8C0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C847E-3BCA-D1A8-4FE8-35576FAF0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E54BC-BDAE-9A34-B17A-248000562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5F99-3C1E-4B35-930E-1EC644DF12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8F79A-A237-32FC-9FA1-CFC670B35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60934-B88D-2CB2-27DE-AAA8A99D1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E568C-9C4C-4AA3-B481-91D53C6CA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250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D860E-377C-A59D-7B57-8901EEF01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FD2D7D-B6EA-582C-237A-4B7FDF88A2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01D83-F20D-9F46-E09E-99F077719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5F99-3C1E-4B35-930E-1EC644DF12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ED55F-A62F-E3D0-6D40-EB99F12A5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7A3D0-27A1-EC02-B727-5DAE53F40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E568C-9C4C-4AA3-B481-91D53C6CA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702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ADF6EB-86F2-2B8E-0001-25F089789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E1BE7-2C0D-1FDE-3302-BF127A5E5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B9D35-270B-20BA-0402-5175152FF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F5F99-3C1E-4B35-930E-1EC644DF12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5955A-6C8C-57DC-612A-665A803B4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3C1C9-4BB3-D0E3-191A-6B29577B2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E568C-9C4C-4AA3-B481-91D53C6CA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134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8D3795-9A50-AE72-087D-D9F91E3F3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0F57-A34D-4597-8986-ACBB640BA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5B43E-2201-761B-8E43-38D223F3E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CF5F99-3C1E-4B35-930E-1EC644DF12B6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CB05A-3F59-0EDF-D21E-FAC488AD1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0F0CD-131F-7CFB-C37F-65884DF528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E568C-9C4C-4AA3-B481-91D53C6CAE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4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7F95-EB0C-57FF-C397-6C4D8CA1AC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Customer Churn Analysis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B9F349-7C59-C994-DAF0-EBFDF010CB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/>
              <a:t>Data-Driven Business Insights &amp; Recommendations</a:t>
            </a:r>
          </a:p>
          <a:p>
            <a:endParaRPr lang="en-US" i="1" dirty="0"/>
          </a:p>
          <a:p>
            <a:pPr algn="l"/>
            <a:r>
              <a:rPr lang="en-US" b="1" dirty="0"/>
              <a:t>Presented by:</a:t>
            </a:r>
            <a:r>
              <a:rPr lang="en-US" dirty="0"/>
              <a:t> Shahul shibin TP</a:t>
            </a:r>
            <a:br>
              <a:rPr lang="en-US" dirty="0"/>
            </a:br>
            <a:r>
              <a:rPr lang="en-US" b="1" dirty="0"/>
              <a:t>Project Type:</a:t>
            </a:r>
            <a:r>
              <a:rPr lang="en-US" dirty="0"/>
              <a:t> Capstone – Real World Business Analysis</a:t>
            </a:r>
            <a:br>
              <a:rPr lang="en-US" dirty="0"/>
            </a:br>
            <a:r>
              <a:rPr lang="en-US" b="1" dirty="0"/>
              <a:t>Tools Used:</a:t>
            </a:r>
            <a:r>
              <a:rPr lang="en-US" dirty="0"/>
              <a:t> Python, Pandas, Matplotlib, Seaborn</a:t>
            </a:r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035102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1E855-E1FE-4311-EC4F-C6665EED8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A1A83-7DD8-05CA-DF28-6FC2FC520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Problem Statement</a:t>
            </a:r>
          </a:p>
          <a:p>
            <a:r>
              <a:rPr lang="en-US" dirty="0"/>
              <a:t>Customer churn reduces company revenue and growth</a:t>
            </a:r>
          </a:p>
          <a:p>
            <a:r>
              <a:rPr lang="en-US" dirty="0"/>
              <a:t>Acquiring new customers is more expensive than retaining existing ones</a:t>
            </a:r>
          </a:p>
          <a:p>
            <a:r>
              <a:rPr lang="en-US" dirty="0"/>
              <a:t>Identifying churn drivers helps businesses take preventive action</a:t>
            </a:r>
          </a:p>
          <a:p>
            <a:pPr marL="0" indent="0">
              <a:buNone/>
            </a:pPr>
            <a:r>
              <a:rPr lang="en-US" b="1" dirty="0"/>
              <a:t>Goal:</a:t>
            </a:r>
          </a:p>
          <a:p>
            <a:r>
              <a:rPr lang="en-US" dirty="0"/>
              <a:t> Understand why customers churn and how to reduce it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7945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78B63-6CAD-8BB5-6F98-55E41EA07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4F142C-82DB-0311-B422-44F5F619FC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85764"/>
            <a:ext cx="947583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customer churn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key factors influencing churn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statistical analysis to validate findings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actionable 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421841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40286-B235-4C7B-B993-4E8E91585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00E06-254B-BE62-E644-AAF0ABF9B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Dataset Information:</a:t>
            </a:r>
          </a:p>
          <a:p>
            <a:r>
              <a:rPr lang="en-US" b="1" dirty="0"/>
              <a:t>Dataset:</a:t>
            </a:r>
            <a:r>
              <a:rPr lang="en-US" dirty="0"/>
              <a:t> Customer Churn Data</a:t>
            </a:r>
          </a:p>
          <a:p>
            <a:r>
              <a:rPr lang="en-US" b="1" dirty="0"/>
              <a:t>Total Rows:</a:t>
            </a:r>
            <a:r>
              <a:rPr lang="en-US" dirty="0"/>
              <a:t> 500+ customers</a:t>
            </a:r>
          </a:p>
          <a:p>
            <a:r>
              <a:rPr lang="en-US" b="1" dirty="0"/>
              <a:t>Key Columns:</a:t>
            </a:r>
            <a:endParaRPr lang="en-US" dirty="0"/>
          </a:p>
          <a:p>
            <a:pPr lvl="1"/>
            <a:r>
              <a:rPr lang="en-US" dirty="0"/>
              <a:t>Tenure</a:t>
            </a:r>
          </a:p>
          <a:p>
            <a:pPr lvl="1"/>
            <a:r>
              <a:rPr lang="en-US" dirty="0"/>
              <a:t>Monthly Charges</a:t>
            </a:r>
          </a:p>
          <a:p>
            <a:pPr lvl="1"/>
            <a:r>
              <a:rPr lang="en-US" dirty="0"/>
              <a:t>Total Charges</a:t>
            </a:r>
          </a:p>
          <a:p>
            <a:pPr lvl="1"/>
            <a:r>
              <a:rPr lang="en-US" dirty="0"/>
              <a:t>Contract Type</a:t>
            </a:r>
          </a:p>
          <a:p>
            <a:pPr lvl="1"/>
            <a:r>
              <a:rPr lang="en-US" dirty="0"/>
              <a:t>Payment Method</a:t>
            </a:r>
          </a:p>
          <a:p>
            <a:pPr lvl="1"/>
            <a:r>
              <a:rPr lang="en-US" dirty="0"/>
              <a:t>Churn Status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1326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C2BDE-C8C5-67BD-A450-6328B4AFC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 ANALYSIS 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ED81D-962A-C09C-AC67-B219F2484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 End-to-End Process</a:t>
            </a:r>
          </a:p>
          <a:p>
            <a:r>
              <a:rPr lang="en-US" dirty="0"/>
              <a:t>Data Collection</a:t>
            </a:r>
          </a:p>
          <a:p>
            <a:r>
              <a:rPr lang="en-US" dirty="0"/>
              <a:t>Data Cleaning &amp; Preparation</a:t>
            </a:r>
          </a:p>
          <a:p>
            <a:r>
              <a:rPr lang="en-US" dirty="0"/>
              <a:t>Exploratory Data Analysis (EDA)</a:t>
            </a:r>
          </a:p>
          <a:p>
            <a:r>
              <a:rPr lang="en-US" dirty="0"/>
              <a:t>Statistical Analysis</a:t>
            </a:r>
          </a:p>
          <a:p>
            <a:r>
              <a:rPr lang="en-US" dirty="0"/>
              <a:t>Insights &amp;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2708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F1486-5335-E83B-1442-5E12284D2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CLEANING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3C57F-1702-DF75-8CB7-37AA70A78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Cleaning Steps Performed</a:t>
            </a:r>
          </a:p>
          <a:p>
            <a:r>
              <a:rPr lang="en-US" dirty="0"/>
              <a:t>Removed duplicate records</a:t>
            </a:r>
          </a:p>
          <a:p>
            <a:r>
              <a:rPr lang="en-US" dirty="0"/>
              <a:t>Handled missing values</a:t>
            </a:r>
          </a:p>
          <a:p>
            <a:r>
              <a:rPr lang="en-US" dirty="0"/>
              <a:t>Verified data types</a:t>
            </a:r>
          </a:p>
          <a:p>
            <a:r>
              <a:rPr lang="en-US" dirty="0"/>
              <a:t>Created clean dataset for analysis</a:t>
            </a:r>
          </a:p>
          <a:p>
            <a:r>
              <a:rPr lang="en-US" b="1" dirty="0"/>
              <a:t>Result:</a:t>
            </a:r>
            <a:br>
              <a:rPr lang="en-US" dirty="0"/>
            </a:br>
            <a:r>
              <a:rPr lang="en-US" dirty="0"/>
              <a:t>✔ Reliable, analysis-ready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570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B8B59-34EA-F725-D89F-8973DF5CF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CHURN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8C9E1-1BB9-3AD5-050B-6AAA49029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Churn Overview</a:t>
            </a:r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r>
              <a:rPr lang="en-US" b="1" dirty="0"/>
              <a:t>Key Observation:</a:t>
            </a:r>
            <a:endParaRPr lang="en-US" dirty="0"/>
          </a:p>
          <a:p>
            <a:r>
              <a:rPr lang="en-US" dirty="0"/>
              <a:t>Significant portion of customers are churning</a:t>
            </a:r>
          </a:p>
          <a:p>
            <a:r>
              <a:rPr lang="en-US" dirty="0"/>
              <a:t>Indicates need for immediate retention strategies</a:t>
            </a:r>
          </a:p>
          <a:p>
            <a:endParaRPr lang="en-IN" dirty="0"/>
          </a:p>
        </p:txBody>
      </p:sp>
      <p:pic>
        <p:nvPicPr>
          <p:cNvPr id="5" name="Picture 4" descr="&#10;">
            <a:extLst>
              <a:ext uri="{FF2B5EF4-FFF2-40B4-BE49-F238E27FC236}">
                <a16:creationId xmlns:a16="http://schemas.microsoft.com/office/drawing/2014/main" id="{B0EBAF96-1F71-2D53-6253-D06F3801C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44" y="2304014"/>
            <a:ext cx="2951543" cy="207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671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C7206-8538-F739-9C82-666BFB2F8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TENURE VS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5F5DE-56A1-5C85-98F5-42641CA29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📉 Customer Tenure Analysis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Customers with </a:t>
            </a:r>
            <a:r>
              <a:rPr lang="en-US" b="1" dirty="0"/>
              <a:t>low tenure churn more</a:t>
            </a:r>
            <a:endParaRPr lang="en-US" dirty="0"/>
          </a:p>
          <a:p>
            <a:r>
              <a:rPr lang="en-US" dirty="0"/>
              <a:t>Early customer experience is critical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B91C08-6CF2-BE2C-B178-D0D04145B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920" y="2332765"/>
            <a:ext cx="3349793" cy="263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404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27E75-5B96-1C54-5B55-3DA30552D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MONTHLY CHARGES VS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1BFB0-75CD-C53B-83F5-85EFAAD33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Pricing Impact: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Insight:</a:t>
            </a:r>
            <a:endParaRPr lang="en-US" dirty="0"/>
          </a:p>
          <a:p>
            <a:r>
              <a:rPr lang="en-US" dirty="0"/>
              <a:t>Higher monthly charges increase churn probability</a:t>
            </a:r>
          </a:p>
          <a:p>
            <a:r>
              <a:rPr lang="en-US" dirty="0"/>
              <a:t>Customers are price-sensitive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26D82-96C1-75A0-16A3-806A75ABB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520" y="1927822"/>
            <a:ext cx="3479032" cy="271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663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4A675-A526-4FD4-02BA-20A7CDB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CONTRACT TYPE VS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B5784-A6E0-94E1-0BF4-AA9ECF7B3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  Contract Analysis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Observation:</a:t>
            </a:r>
            <a:endParaRPr lang="en-US" dirty="0"/>
          </a:p>
          <a:p>
            <a:r>
              <a:rPr lang="en-US" dirty="0"/>
              <a:t>Month-to-month contracts have the </a:t>
            </a:r>
            <a:r>
              <a:rPr lang="en-US" b="1" dirty="0"/>
              <a:t>highest churn</a:t>
            </a:r>
            <a:endParaRPr lang="en-US" dirty="0"/>
          </a:p>
          <a:p>
            <a:r>
              <a:rPr lang="en-US" dirty="0"/>
              <a:t>Long-term contracts improve retention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93470A-DED6-1CE5-4CE8-E1E5F723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0" y="1825625"/>
            <a:ext cx="4104640" cy="289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977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8645-8A4D-9102-B4C6-2E5EF305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STATISTICAL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A210D-8204-FB24-1981-52477D763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 Hypothesis Testing</a:t>
            </a:r>
          </a:p>
          <a:p>
            <a:r>
              <a:rPr lang="en-US" b="1" dirty="0"/>
              <a:t>Question:</a:t>
            </a:r>
            <a:br>
              <a:rPr lang="en-US" dirty="0"/>
            </a:br>
            <a:r>
              <a:rPr lang="en-US" dirty="0"/>
              <a:t>Do churned customers pay higher monthly charges?</a:t>
            </a:r>
          </a:p>
          <a:p>
            <a:r>
              <a:rPr lang="en-US" b="1" dirty="0"/>
              <a:t>Method:</a:t>
            </a:r>
            <a:endParaRPr lang="en-US" dirty="0"/>
          </a:p>
          <a:p>
            <a:r>
              <a:rPr lang="en-US" dirty="0"/>
              <a:t>Independent T-Test</a:t>
            </a:r>
          </a:p>
          <a:p>
            <a:r>
              <a:rPr lang="en-US" b="1" dirty="0"/>
              <a:t>Result:</a:t>
            </a:r>
            <a:endParaRPr lang="en-US" dirty="0"/>
          </a:p>
          <a:p>
            <a:r>
              <a:rPr lang="en-US" dirty="0"/>
              <a:t>p-value &lt; 0.05</a:t>
            </a:r>
          </a:p>
          <a:p>
            <a:r>
              <a:rPr lang="en-US" dirty="0"/>
              <a:t>Statistically significant difference found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23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5D8E6-CCD6-5020-E48B-03848089C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INSIGHTS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34245-BEFB-9514-E57D-C892CEDD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Major Findings</a:t>
            </a:r>
          </a:p>
          <a:p>
            <a:r>
              <a:rPr lang="en-US" dirty="0"/>
              <a:t>High monthly charges increase churn</a:t>
            </a:r>
          </a:p>
          <a:p>
            <a:r>
              <a:rPr lang="en-US" dirty="0"/>
              <a:t>Low-tenure customers are most vulnerable</a:t>
            </a:r>
          </a:p>
          <a:p>
            <a:r>
              <a:rPr lang="en-US" dirty="0"/>
              <a:t>Contract duration strongly affects retention</a:t>
            </a:r>
          </a:p>
          <a:p>
            <a:r>
              <a:rPr lang="en-US" dirty="0"/>
              <a:t>Pricing strategy plays a major role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6546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B14D-0A18-EDEE-483E-70B907495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A3D45-3554-A20D-CFBF-D7EAB2BED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Actionable Strategies</a:t>
            </a:r>
          </a:p>
          <a:p>
            <a:r>
              <a:rPr lang="en-US" dirty="0"/>
              <a:t>Offer discounts for long-term contracts</a:t>
            </a:r>
          </a:p>
          <a:p>
            <a:r>
              <a:rPr lang="en-US" dirty="0"/>
              <a:t>Improve onboarding for new customers</a:t>
            </a:r>
          </a:p>
          <a:p>
            <a:r>
              <a:rPr lang="en-US" dirty="0"/>
              <a:t>Provide loyalty benefits after 6 months</a:t>
            </a:r>
          </a:p>
          <a:p>
            <a:r>
              <a:rPr lang="en-US" dirty="0"/>
              <a:t>Target high-risk customers with retention offers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913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A3B0D-75D2-5F66-9D37-27DF67ED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IMPLEMENTATION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6311F-4D29-4BFB-A4AB-812676AA7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to Apply These Insights</a:t>
            </a:r>
          </a:p>
          <a:p>
            <a:r>
              <a:rPr lang="en-US" dirty="0"/>
              <a:t>Identify high-risk customers monthly</a:t>
            </a:r>
          </a:p>
          <a:p>
            <a:r>
              <a:rPr lang="en-US" dirty="0"/>
              <a:t>Offer personalized retention plans</a:t>
            </a:r>
          </a:p>
          <a:p>
            <a:r>
              <a:rPr lang="en-US" dirty="0"/>
              <a:t>Monitor churn KPIs regularly</a:t>
            </a:r>
          </a:p>
          <a:p>
            <a:r>
              <a:rPr lang="en-US" dirty="0"/>
              <a:t>Adjust pricing and contract strategies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48060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96C7-ACCE-92EF-9B4C-E489BD4B7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E5159-6198-AF77-2B19-D4706BFB2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Final Conclusion</a:t>
            </a:r>
          </a:p>
          <a:p>
            <a:r>
              <a:rPr lang="en-US" dirty="0"/>
              <a:t>Data-driven analysis reveals key churn drivers</a:t>
            </a:r>
          </a:p>
          <a:p>
            <a:r>
              <a:rPr lang="en-US" dirty="0"/>
              <a:t>Early engagement and pricing optimization are critical</a:t>
            </a:r>
          </a:p>
          <a:p>
            <a:r>
              <a:rPr lang="en-US" dirty="0"/>
              <a:t>Implementing recommendations can reduce churn significantly</a:t>
            </a:r>
          </a:p>
          <a:p>
            <a:r>
              <a:rPr lang="en-US" b="1" dirty="0"/>
              <a:t>Thank You</a:t>
            </a:r>
            <a:r>
              <a:rPr lang="en-US" dirty="0"/>
              <a:t> 🙏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0850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</Words>
  <Application>Microsoft Office PowerPoint</Application>
  <PresentationFormat>Widescreen</PresentationFormat>
  <Paragraphs>113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Customer Churn Analysis </vt:lpstr>
      <vt:lpstr>BUSINESS PROBLEM</vt:lpstr>
      <vt:lpstr>Objectives</vt:lpstr>
      <vt:lpstr>DATASET OVERVIEW</vt:lpstr>
      <vt:lpstr>DATA  ANALYSIS  WORKFLOW</vt:lpstr>
      <vt:lpstr>DATA CLEANING SUMMARY</vt:lpstr>
      <vt:lpstr>CHURN DISTRIBUTION</vt:lpstr>
      <vt:lpstr>TENURE VS CHURN</vt:lpstr>
      <vt:lpstr>MONTHLY CHARGES VS CHURN</vt:lpstr>
      <vt:lpstr>CONTRACT TYPE VS CHURN</vt:lpstr>
      <vt:lpstr>STATISTICAL ANALYSIS</vt:lpstr>
      <vt:lpstr>KEY INSIGHTS SUMMARY</vt:lpstr>
      <vt:lpstr>BUSINESS RECOMMENDATIONS</vt:lpstr>
      <vt:lpstr>IMPLEMENTATION PLAN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shahu shibin TP</dc:creator>
  <cp:lastModifiedBy>shahu shibin TP</cp:lastModifiedBy>
  <cp:revision>1</cp:revision>
  <dcterms:created xsi:type="dcterms:W3CDTF">2026-01-05T07:25:41Z</dcterms:created>
  <dcterms:modified xsi:type="dcterms:W3CDTF">2026-01-05T07:25:45Z</dcterms:modified>
</cp:coreProperties>
</file>